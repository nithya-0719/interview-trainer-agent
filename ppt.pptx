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8"/>
  </p:notesMasterIdLst>
  <p:sldIdLst>
    <p:sldId id="283" r:id="rId2"/>
    <p:sldId id="257" r:id="rId3"/>
    <p:sldId id="282" r:id="rId4"/>
    <p:sldId id="291" r:id="rId5"/>
    <p:sldId id="285" r:id="rId6"/>
    <p:sldId id="281" r:id="rId7"/>
    <p:sldId id="279" r:id="rId8"/>
    <p:sldId id="262" r:id="rId9"/>
    <p:sldId id="287" r:id="rId10"/>
    <p:sldId id="292" r:id="rId11"/>
    <p:sldId id="264" r:id="rId12"/>
    <p:sldId id="278" r:id="rId13"/>
    <p:sldId id="286" r:id="rId14"/>
    <p:sldId id="277" r:id="rId15"/>
    <p:sldId id="280" r:id="rId16"/>
    <p:sldId id="276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588"/>
    <p:restoredTop sz="94671"/>
  </p:normalViewPr>
  <p:slideViewPr>
    <p:cSldViewPr snapToGrid="0">
      <p:cViewPr varScale="1">
        <p:scale>
          <a:sx n="88" d="100"/>
          <a:sy n="88" d="100"/>
        </p:scale>
        <p:origin x="176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FB18EFA4-CD13-16C4-504B-6DB7E86CE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E8E16183-6BFA-E60A-1235-F3BFB1B1F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C4420B06-3455-3F20-5E28-90535F24DA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51753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 dirty="0"/>
              <a:t>IBM University Engagement Project Submission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 dirty="0"/>
              <a:t>“Exploring the Power of Agentic AI with IBM Granite and </a:t>
            </a:r>
            <a:r>
              <a:rPr lang="en-US" b="1" i="1" dirty="0" err="1"/>
              <a:t>LangFlow</a:t>
            </a:r>
            <a:r>
              <a:rPr lang="en-US" b="1" i="1" dirty="0"/>
              <a:t>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7564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 dirty="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3906317849"/>
              </p:ext>
            </p:extLst>
          </p:nvPr>
        </p:nvGraphicFramePr>
        <p:xfrm>
          <a:off x="200416" y="2600315"/>
          <a:ext cx="11774465" cy="2668371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5878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51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34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880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32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Student Name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Recent Passport Photo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5134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 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MATTA NITHYA REDDY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IN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dirty="0"/>
                        <a:t>    </a:t>
                      </a:r>
                      <a:r>
                        <a:rPr lang="en-IN" sz="14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vinnyreddy0719@gmail.com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IN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9705576008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IN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206164" y="1400398"/>
            <a:ext cx="10280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Domain of  Project – Education</a:t>
            </a:r>
            <a:endParaRPr lang="en-IN" sz="2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06162" y="551965"/>
            <a:ext cx="95811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Project Tile – </a:t>
            </a:r>
            <a:r>
              <a:rPr lang="en-US" sz="2400" dirty="0"/>
              <a:t>9705576008</a:t>
            </a:r>
          </a:p>
          <a:p>
            <a:endParaRPr lang="en-IN" sz="2400" b="1" dirty="0">
              <a:highlight>
                <a:srgbClr val="FFFF00"/>
              </a:highlight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A19FC0F-DB21-DC92-EA78-6E5714F9C12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734" t="13334" r="19022" b="37555"/>
          <a:stretch/>
        </p:blipFill>
        <p:spPr>
          <a:xfrm>
            <a:off x="3375479" y="3571941"/>
            <a:ext cx="1706849" cy="168591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645646" y="1333831"/>
            <a:ext cx="1060704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b="1" i="0" dirty="0">
                <a:solidFill>
                  <a:srgbClr val="000000"/>
                </a:solidFill>
                <a:effectLst/>
              </a:rPr>
              <a:t>Problem Statement: Interview Trainer Agent</a:t>
            </a:r>
          </a:p>
          <a:p>
            <a:pPr algn="l"/>
            <a:r>
              <a:rPr lang="en-IN" b="1" i="0" dirty="0">
                <a:solidFill>
                  <a:srgbClr val="000000"/>
                </a:solidFill>
                <a:effectLst/>
              </a:rPr>
              <a:t>The Challenge</a:t>
            </a:r>
          </a:p>
          <a:p>
            <a:pPr algn="l"/>
            <a:r>
              <a:rPr lang="en-IN" i="0" dirty="0">
                <a:solidFill>
                  <a:srgbClr val="000000"/>
                </a:solidFill>
                <a:effectLst/>
              </a:rPr>
              <a:t>Preparing for job interviews can be difficult for students and job seekers due to a lack of structured guidance, role-specific preparation materials, and practical interview experience. Many candidates struggle with HR questions, technical assessments, behavioral scenarios, and understanding industry expectations.</a:t>
            </a:r>
          </a:p>
          <a:p>
            <a:pPr algn="l"/>
            <a:endParaRPr lang="en-IN" i="0" dirty="0">
              <a:solidFill>
                <a:srgbClr val="000000"/>
              </a:solidFill>
              <a:effectLst/>
            </a:endParaRPr>
          </a:p>
          <a:p>
            <a:pPr algn="l"/>
            <a:r>
              <a:rPr lang="en-IN" b="1" i="0" dirty="0">
                <a:solidFill>
                  <a:srgbClr val="000000"/>
                </a:solidFill>
                <a:effectLst/>
              </a:rPr>
              <a:t>The Objective</a:t>
            </a:r>
          </a:p>
          <a:p>
            <a:pPr algn="l"/>
            <a:r>
              <a:rPr lang="en-IN" i="0" dirty="0">
                <a:solidFill>
                  <a:srgbClr val="000000"/>
                </a:solidFill>
                <a:effectLst/>
              </a:rPr>
              <a:t>Build an AI-powered Interview Trainer Agent that helps users prepare effectively for interviews by providing personalized guidance based on their job role, experience level, and interview requirements. The solution should:</a:t>
            </a:r>
          </a:p>
          <a:p>
            <a:pPr algn="l"/>
            <a:r>
              <a:rPr lang="en-IN" i="0" dirty="0">
                <a:solidFill>
                  <a:srgbClr val="000000"/>
                </a:solidFill>
                <a:effectLst/>
              </a:rPr>
              <a:t>○ HR Interview Preparation – Provide common HR questions along with sample answers and response strategies.</a:t>
            </a:r>
          </a:p>
          <a:p>
            <a:pPr algn="l"/>
            <a:r>
              <a:rPr lang="en-IN" i="0" dirty="0">
                <a:solidFill>
                  <a:srgbClr val="000000"/>
                </a:solidFill>
                <a:effectLst/>
              </a:rPr>
              <a:t>○ Technical Interview Preparation – Generate technical questions related to the user's domain and skill set.</a:t>
            </a:r>
          </a:p>
          <a:p>
            <a:pPr algn="l"/>
            <a:r>
              <a:rPr lang="en-IN" i="0" dirty="0">
                <a:solidFill>
                  <a:srgbClr val="000000"/>
                </a:solidFill>
                <a:effectLst/>
              </a:rPr>
              <a:t>○ Role-Based Question Generation – Deliver interview questions tailored to specific job roles such as Software Developer, Data Analyst, and others.</a:t>
            </a:r>
          </a:p>
          <a:p>
            <a:pPr algn="l"/>
            <a:r>
              <a:rPr lang="en-IN" i="0" dirty="0">
                <a:solidFill>
                  <a:srgbClr val="000000"/>
                </a:solidFill>
                <a:effectLst/>
              </a:rPr>
              <a:t>○ Sample Answers &amp; Guidance – Offer model answers and tips to improve response quality.</a:t>
            </a:r>
          </a:p>
          <a:p>
            <a:pPr algn="l"/>
            <a:r>
              <a:rPr lang="en-IN" i="0" dirty="0">
                <a:solidFill>
                  <a:srgbClr val="000000"/>
                </a:solidFill>
                <a:effectLst/>
              </a:rPr>
              <a:t>○ Interview Tips &amp; Best Practices – Share practical advice on communication, confidence, body language, and preparation techniques.</a:t>
            </a:r>
          </a:p>
          <a:p>
            <a:pPr algn="l"/>
            <a:r>
              <a:rPr lang="en-IN" i="0" dirty="0">
                <a:solidFill>
                  <a:srgbClr val="000000"/>
                </a:solidFill>
                <a:effectLst/>
              </a:rPr>
              <a:t>○ Knowledge-Based Retrieval (RAG) – Retrieve relevant interview content from the knowledge base for accurate responses.</a:t>
            </a:r>
          </a:p>
          <a:p>
            <a:pPr algn="l"/>
            <a:r>
              <a:rPr lang="en-IN" i="0" dirty="0">
                <a:solidFill>
                  <a:srgbClr val="000000"/>
                </a:solidFill>
                <a:effectLst/>
              </a:rPr>
              <a:t>○ AI-Powered Assistance – Use IBM Granite Models to generate intelligent, context-aware interview preparation guidance.</a:t>
            </a:r>
          </a:p>
          <a:p>
            <a:pPr algn="l"/>
            <a:r>
              <a:rPr lang="en-IN" i="0" dirty="0">
                <a:solidFill>
                  <a:srgbClr val="000000"/>
                </a:solidFill>
                <a:effectLst/>
              </a:rPr>
              <a:t>○ Interactive User Experience – Enable users to interact naturally and receive personalized interview support.</a:t>
            </a:r>
          </a:p>
          <a:p>
            <a:pPr fontAlgn="base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Problem Statement 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952584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5C9D2-8BD1-C2D6-B083-AE737A5EB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885" y="315021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b="1" dirty="0"/>
              <a:t>Technology Used </a:t>
            </a:r>
            <a:br>
              <a:rPr lang="en-IN" sz="2800" b="1" dirty="0"/>
            </a:br>
            <a:endParaRPr lang="en-US" sz="28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0349397-354B-535A-564E-4E854E7290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8294412"/>
              </p:ext>
            </p:extLst>
          </p:nvPr>
        </p:nvGraphicFramePr>
        <p:xfrm>
          <a:off x="425885" y="1415441"/>
          <a:ext cx="10927916" cy="4186054"/>
        </p:xfrm>
        <a:graphic>
          <a:graphicData uri="http://schemas.openxmlformats.org/drawingml/2006/table">
            <a:tbl>
              <a:tblPr/>
              <a:tblGrid>
                <a:gridCol w="5463958">
                  <a:extLst>
                    <a:ext uri="{9D8B030D-6E8A-4147-A177-3AD203B41FA5}">
                      <a16:colId xmlns:a16="http://schemas.microsoft.com/office/drawing/2014/main" val="3507308033"/>
                    </a:ext>
                  </a:extLst>
                </a:gridCol>
                <a:gridCol w="5463958">
                  <a:extLst>
                    <a:ext uri="{9D8B030D-6E8A-4147-A177-3AD203B41FA5}">
                      <a16:colId xmlns:a16="http://schemas.microsoft.com/office/drawing/2014/main" val="428977726"/>
                    </a:ext>
                  </a:extLst>
                </a:gridCol>
              </a:tblGrid>
              <a:tr h="398672">
                <a:tc>
                  <a:txBody>
                    <a:bodyPr/>
                    <a:lstStyle/>
                    <a:p>
                      <a:r>
                        <a:rPr lang="en-IN" dirty="0"/>
                        <a:t>Technology</a:t>
                      </a:r>
                    </a:p>
                  </a:txBody>
                  <a:tcPr anchor="ctr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Purpose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0265183"/>
                  </a:ext>
                </a:extLst>
              </a:tr>
              <a:tr h="677742">
                <a:tc>
                  <a:txBody>
                    <a:bodyPr/>
                    <a:lstStyle/>
                    <a:p>
                      <a:r>
                        <a:rPr lang="en-IN" dirty="0"/>
                        <a:t>IBM </a:t>
                      </a:r>
                      <a:r>
                        <a:rPr lang="en-IN" dirty="0" err="1"/>
                        <a:t>watsonx.ai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Provides the AI platform for building and managing the Interview Trainer solution.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5674407"/>
                  </a:ext>
                </a:extLst>
              </a:tr>
              <a:tr h="677742">
                <a:tc>
                  <a:txBody>
                    <a:bodyPr/>
                    <a:lstStyle/>
                    <a:p>
                      <a:r>
                        <a:rPr lang="en-IN" dirty="0"/>
                        <a:t>IBM Granite Models</a:t>
                      </a:r>
                    </a:p>
                  </a:txBody>
                  <a:tcPr anchor="ctr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Generates intelligent interview questions, sample answers, and interview guidance.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1413492"/>
                  </a:ext>
                </a:extLst>
              </a:tr>
              <a:tr h="677742">
                <a:tc>
                  <a:txBody>
                    <a:bodyPr/>
                    <a:lstStyle/>
                    <a:p>
                      <a:r>
                        <a:rPr lang="en-IN" dirty="0"/>
                        <a:t>Retrieval-Augmented Generation (RAG)</a:t>
                      </a:r>
                    </a:p>
                  </a:txBody>
                  <a:tcPr anchor="ctr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Retrieves relevant interview content from the knowledge base for accurate responses.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4899628"/>
                  </a:ext>
                </a:extLst>
              </a:tr>
              <a:tr h="398672">
                <a:tc>
                  <a:txBody>
                    <a:bodyPr/>
                    <a:lstStyle/>
                    <a:p>
                      <a:r>
                        <a:rPr lang="en-IN" dirty="0"/>
                        <a:t>IBM </a:t>
                      </a:r>
                      <a:r>
                        <a:rPr lang="en-IN" dirty="0" err="1"/>
                        <a:t>watsonx</a:t>
                      </a:r>
                      <a:r>
                        <a:rPr lang="en-IN" dirty="0"/>
                        <a:t> Orchestrate</a:t>
                      </a:r>
                    </a:p>
                  </a:txBody>
                  <a:tcPr anchor="ctr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Creates and manages the AI agent and user interactions.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4099373"/>
                  </a:ext>
                </a:extLst>
              </a:tr>
              <a:tr h="677742">
                <a:tc>
                  <a:txBody>
                    <a:bodyPr/>
                    <a:lstStyle/>
                    <a:p>
                      <a:r>
                        <a:rPr lang="en-IN" dirty="0"/>
                        <a:t>Microsoft Excel Dataset</a:t>
                      </a:r>
                    </a:p>
                  </a:txBody>
                  <a:tcPr anchor="ctr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Stores HR questions, technical questions, role-based questions, and interview tips.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5355166"/>
                  </a:ext>
                </a:extLst>
              </a:tr>
              <a:tr h="677742">
                <a:tc>
                  <a:txBody>
                    <a:bodyPr/>
                    <a:lstStyle/>
                    <a:p>
                      <a:r>
                        <a:rPr lang="en-IN" dirty="0"/>
                        <a:t>AI Agent</a:t>
                      </a:r>
                    </a:p>
                  </a:txBody>
                  <a:tcPr anchor="ctr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Provides personalized interview preparation and guidance through natural language conversations.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82594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8252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562819" y="948690"/>
            <a:ext cx="10607040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b="1" i="0" dirty="0">
                <a:solidFill>
                  <a:srgbClr val="000000"/>
                </a:solidFill>
                <a:effectLst/>
              </a:rPr>
              <a:t>Proposed Solution: AI-Powered Interview Trainer Agent</a:t>
            </a:r>
          </a:p>
          <a:p>
            <a:pPr algn="l"/>
            <a:r>
              <a:rPr lang="en-IN" b="0" i="0" dirty="0">
                <a:solidFill>
                  <a:srgbClr val="000000"/>
                </a:solidFill>
                <a:effectLst/>
              </a:rPr>
              <a:t>The </a:t>
            </a:r>
            <a:r>
              <a:rPr lang="en-IN" b="1" i="0" dirty="0">
                <a:solidFill>
                  <a:srgbClr val="000000"/>
                </a:solidFill>
                <a:effectLst/>
              </a:rPr>
              <a:t>Interview Trainer Agent</a:t>
            </a:r>
            <a:r>
              <a:rPr lang="en-IN" b="0" i="0" dirty="0">
                <a:solidFill>
                  <a:srgbClr val="000000"/>
                </a:solidFill>
                <a:effectLst/>
              </a:rPr>
              <a:t> is an AI-powered interview preparation assistant built using </a:t>
            </a:r>
            <a:r>
              <a:rPr lang="en-IN" b="1" i="0" dirty="0">
                <a:solidFill>
                  <a:srgbClr val="000000"/>
                </a:solidFill>
                <a:effectLst/>
              </a:rPr>
              <a:t>IBM </a:t>
            </a:r>
            <a:r>
              <a:rPr lang="en-IN" b="1" i="0" dirty="0" err="1">
                <a:solidFill>
                  <a:srgbClr val="000000"/>
                </a:solidFill>
                <a:effectLst/>
              </a:rPr>
              <a:t>watsonx</a:t>
            </a:r>
            <a:r>
              <a:rPr lang="en-IN" b="1" i="0" dirty="0">
                <a:solidFill>
                  <a:srgbClr val="000000"/>
                </a:solidFill>
                <a:effectLst/>
              </a:rPr>
              <a:t> Orchestrate, IBM </a:t>
            </a:r>
            <a:r>
              <a:rPr lang="en-IN" b="1" i="0" dirty="0" err="1">
                <a:solidFill>
                  <a:srgbClr val="000000"/>
                </a:solidFill>
                <a:effectLst/>
              </a:rPr>
              <a:t>watsonx.ai</a:t>
            </a:r>
            <a:r>
              <a:rPr lang="en-IN" b="1" i="0" dirty="0">
                <a:solidFill>
                  <a:srgbClr val="000000"/>
                </a:solidFill>
                <a:effectLst/>
              </a:rPr>
              <a:t>, IBM Granite Models, and Retrieval-Augmented Generation (RAG)</a:t>
            </a:r>
            <a:r>
              <a:rPr lang="en-IN" b="0" i="0" dirty="0">
                <a:solidFill>
                  <a:srgbClr val="000000"/>
                </a:solidFill>
                <a:effectLst/>
              </a:rPr>
              <a:t>.</a:t>
            </a:r>
          </a:p>
          <a:p>
            <a:pPr algn="l"/>
            <a:r>
              <a:rPr lang="en-IN" b="0" i="0" dirty="0">
                <a:solidFill>
                  <a:srgbClr val="000000"/>
                </a:solidFill>
                <a:effectLst/>
              </a:rPr>
              <a:t>The solution helps students and job seekers prepare for interviews by providing personalized interview questions, sample answers, and preparation guidance.</a:t>
            </a:r>
          </a:p>
          <a:p>
            <a:pPr algn="l"/>
            <a:endParaRPr lang="en-IN" b="1" i="0" dirty="0">
              <a:solidFill>
                <a:srgbClr val="000000"/>
              </a:solidFill>
              <a:effectLst/>
            </a:endParaRPr>
          </a:p>
          <a:p>
            <a:pPr algn="l"/>
            <a:r>
              <a:rPr lang="en-IN" b="1" i="0" dirty="0">
                <a:solidFill>
                  <a:srgbClr val="000000"/>
                </a:solidFill>
                <a:effectLst/>
              </a:rPr>
              <a:t>Core Components</a:t>
            </a:r>
          </a:p>
          <a:p>
            <a:pPr algn="l"/>
            <a:r>
              <a:rPr lang="en-IN" b="1" i="0" dirty="0">
                <a:solidFill>
                  <a:srgbClr val="000000"/>
                </a:solidFill>
                <a:effectLst/>
              </a:rPr>
              <a:t>HR Interview Module</a:t>
            </a:r>
            <a:r>
              <a:rPr lang="en-IN" b="0" i="0" dirty="0">
                <a:solidFill>
                  <a:srgbClr val="000000"/>
                </a:solidFill>
                <a:effectLst/>
              </a:rPr>
              <a:t> – Provides common HR interview questions along with sample answers and response strategies.</a:t>
            </a:r>
          </a:p>
          <a:p>
            <a:pPr algn="l"/>
            <a:r>
              <a:rPr lang="en-IN" b="1" i="0" dirty="0">
                <a:solidFill>
                  <a:srgbClr val="000000"/>
                </a:solidFill>
                <a:effectLst/>
              </a:rPr>
              <a:t>Technical Interview Module</a:t>
            </a:r>
            <a:r>
              <a:rPr lang="en-IN" b="0" i="0" dirty="0">
                <a:solidFill>
                  <a:srgbClr val="000000"/>
                </a:solidFill>
                <a:effectLst/>
              </a:rPr>
              <a:t> – Generates technical questions related to programming, databases, operating systems, networking, and other technical subjects.</a:t>
            </a:r>
          </a:p>
          <a:p>
            <a:pPr algn="l"/>
            <a:r>
              <a:rPr lang="en-IN" b="1" i="0" dirty="0">
                <a:solidFill>
                  <a:srgbClr val="000000"/>
                </a:solidFill>
                <a:effectLst/>
              </a:rPr>
              <a:t>Role-Based Interview Module</a:t>
            </a:r>
            <a:r>
              <a:rPr lang="en-IN" b="0" i="0" dirty="0">
                <a:solidFill>
                  <a:srgbClr val="000000"/>
                </a:solidFill>
                <a:effectLst/>
              </a:rPr>
              <a:t> – Delivers interview questions tailored to specific job roles such as Software Developer.</a:t>
            </a:r>
          </a:p>
          <a:p>
            <a:pPr algn="l"/>
            <a:r>
              <a:rPr lang="en-IN" b="1" i="0" dirty="0">
                <a:solidFill>
                  <a:srgbClr val="000000"/>
                </a:solidFill>
                <a:effectLst/>
              </a:rPr>
              <a:t>Knowledge Base (RAG Engine)</a:t>
            </a:r>
            <a:r>
              <a:rPr lang="en-IN" b="0" i="0" dirty="0">
                <a:solidFill>
                  <a:srgbClr val="000000"/>
                </a:solidFill>
                <a:effectLst/>
              </a:rPr>
              <a:t> – Retrieves relevant interview questions, answers, and preparation tips from the uploaded dataset.</a:t>
            </a:r>
          </a:p>
          <a:p>
            <a:pPr algn="l"/>
            <a:r>
              <a:rPr lang="en-IN" b="1" i="0" dirty="0">
                <a:solidFill>
                  <a:srgbClr val="000000"/>
                </a:solidFill>
                <a:effectLst/>
              </a:rPr>
              <a:t>Interview Tips Module</a:t>
            </a:r>
            <a:r>
              <a:rPr lang="en-IN" b="0" i="0" dirty="0">
                <a:solidFill>
                  <a:srgbClr val="000000"/>
                </a:solidFill>
                <a:effectLst/>
              </a:rPr>
              <a:t> – Provides guidance on communication skills, confidence building, resume preparation, and interview best practices.</a:t>
            </a:r>
          </a:p>
          <a:p>
            <a:pPr algn="l"/>
            <a:r>
              <a:rPr lang="en-IN" b="1" i="0" dirty="0">
                <a:solidFill>
                  <a:srgbClr val="000000"/>
                </a:solidFill>
                <a:effectLst/>
              </a:rPr>
              <a:t>Key Features</a:t>
            </a:r>
          </a:p>
          <a:p>
            <a:pPr algn="l"/>
            <a:r>
              <a:rPr lang="en-IN" b="0" i="0" dirty="0">
                <a:solidFill>
                  <a:srgbClr val="000000"/>
                </a:solidFill>
                <a:effectLst/>
              </a:rPr>
              <a:t>○ HR Interview Preparation</a:t>
            </a:r>
          </a:p>
          <a:p>
            <a:pPr algn="l"/>
            <a:r>
              <a:rPr lang="en-IN" b="0" i="0" dirty="0">
                <a:solidFill>
                  <a:srgbClr val="000000"/>
                </a:solidFill>
                <a:effectLst/>
              </a:rPr>
              <a:t>○ Technical Interview Preparation</a:t>
            </a:r>
          </a:p>
          <a:p>
            <a:pPr algn="l"/>
            <a:r>
              <a:rPr lang="en-IN" b="0" i="0" dirty="0">
                <a:solidFill>
                  <a:srgbClr val="000000"/>
                </a:solidFill>
                <a:effectLst/>
              </a:rPr>
              <a:t>○ Role-Based Question Generation</a:t>
            </a:r>
          </a:p>
          <a:p>
            <a:pPr algn="l"/>
            <a:r>
              <a:rPr lang="en-IN" b="0" i="0" dirty="0">
                <a:solidFill>
                  <a:srgbClr val="000000"/>
                </a:solidFill>
                <a:effectLst/>
              </a:rPr>
              <a:t>○ Sample Answers and Explanations</a:t>
            </a:r>
          </a:p>
          <a:p>
            <a:pPr algn="l"/>
            <a:r>
              <a:rPr lang="en-IN" b="0" i="0" dirty="0">
                <a:solidFill>
                  <a:srgbClr val="000000"/>
                </a:solidFill>
                <a:effectLst/>
              </a:rPr>
              <a:t>○ Interview Preparation Tips</a:t>
            </a:r>
          </a:p>
          <a:p>
            <a:pPr algn="l"/>
            <a:r>
              <a:rPr lang="en-IN" b="0" i="0" dirty="0">
                <a:solidFill>
                  <a:srgbClr val="000000"/>
                </a:solidFill>
                <a:effectLst/>
              </a:rPr>
              <a:t>○ Knowledge-Based Retrieval (RAG)</a:t>
            </a:r>
          </a:p>
          <a:p>
            <a:pPr algn="l"/>
            <a:r>
              <a:rPr lang="en-IN" b="0" i="0" dirty="0">
                <a:solidFill>
                  <a:srgbClr val="000000"/>
                </a:solidFill>
                <a:effectLst/>
              </a:rPr>
              <a:t>○ AI-Powered Personalized Guidance</a:t>
            </a:r>
          </a:p>
          <a:p>
            <a:pPr algn="l"/>
            <a:r>
              <a:rPr lang="en-IN" b="0" i="0" dirty="0">
                <a:solidFill>
                  <a:srgbClr val="000000"/>
                </a:solidFill>
                <a:effectLst/>
              </a:rPr>
              <a:t>○ Interactive Chat-Based Experience</a:t>
            </a:r>
          </a:p>
          <a:p>
            <a:pPr algn="l"/>
            <a:endParaRPr lang="en-IN" b="1" i="0" dirty="0">
              <a:solidFill>
                <a:srgbClr val="000000"/>
              </a:solidFill>
              <a:effectLst/>
            </a:endParaRPr>
          </a:p>
          <a:p>
            <a:pPr algn="l"/>
            <a:r>
              <a:rPr lang="en-IN" b="1" i="0" dirty="0">
                <a:solidFill>
                  <a:srgbClr val="000000"/>
                </a:solidFill>
                <a:effectLst/>
              </a:rPr>
              <a:t>Outcome</a:t>
            </a:r>
          </a:p>
          <a:p>
            <a:pPr algn="l"/>
            <a:r>
              <a:rPr lang="en-IN" b="0" i="0" dirty="0">
                <a:solidFill>
                  <a:srgbClr val="000000"/>
                </a:solidFill>
                <a:effectLst/>
              </a:rPr>
              <a:t>Helps users improve interview readiness, build confidence, strengthen communication skills, and perform better in HR, technical, and role-specific interviews.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470054" y="412540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Proposed Solution 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290294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474821" y="323239"/>
            <a:ext cx="6800621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buClr>
                <a:srgbClr val="051D3A"/>
              </a:buClr>
              <a:buSzPts val="3500"/>
            </a:pPr>
            <a:r>
              <a:rPr lang="en-GB" sz="2400" b="1" dirty="0"/>
              <a:t>IBM </a:t>
            </a:r>
            <a:r>
              <a:rPr lang="en-GB" sz="2400" b="1" dirty="0" err="1"/>
              <a:t>watsonx</a:t>
            </a:r>
            <a:r>
              <a:rPr lang="en-GB" sz="2400" b="1" dirty="0"/>
              <a:t> Orchestrate Components Used -</a:t>
            </a:r>
            <a:endParaRPr sz="2400" b="1" dirty="0"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B86949-7ED1-C43B-B1E3-5122BB67A596}"/>
              </a:ext>
            </a:extLst>
          </p:cNvPr>
          <p:cNvSpPr txBox="1"/>
          <p:nvPr/>
        </p:nvSpPr>
        <p:spPr>
          <a:xfrm>
            <a:off x="474821" y="1120676"/>
            <a:ext cx="11163900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b="1" i="0" dirty="0">
                <a:solidFill>
                  <a:srgbClr val="000000"/>
                </a:solidFill>
                <a:effectLst/>
              </a:rPr>
              <a:t>1) User Query</a:t>
            </a:r>
          </a:p>
          <a:p>
            <a:pPr algn="l"/>
            <a:r>
              <a:rPr lang="en-IN" b="0" i="0" dirty="0">
                <a:solidFill>
                  <a:srgbClr val="000000"/>
                </a:solidFill>
                <a:effectLst/>
              </a:rPr>
              <a:t>Captures user requests such as HR interview preparation, technical questions, role-based questions, and interview tips.</a:t>
            </a:r>
          </a:p>
          <a:p>
            <a:pPr algn="l"/>
            <a:r>
              <a:rPr lang="en-IN" b="1" i="0" dirty="0">
                <a:solidFill>
                  <a:srgbClr val="000000"/>
                </a:solidFill>
                <a:effectLst/>
              </a:rPr>
              <a:t>2) Interview Trainer Agent</a:t>
            </a:r>
          </a:p>
          <a:p>
            <a:pPr algn="l"/>
            <a:r>
              <a:rPr lang="en-IN" b="0" i="0" dirty="0">
                <a:solidFill>
                  <a:srgbClr val="000000"/>
                </a:solidFill>
                <a:effectLst/>
              </a:rPr>
              <a:t>Analyzes user queries and determines the most relevant interview content to provide.</a:t>
            </a:r>
          </a:p>
          <a:p>
            <a:pPr algn="l"/>
            <a:r>
              <a:rPr lang="en-IN" b="1" i="0" dirty="0">
                <a:solidFill>
                  <a:srgbClr val="000000"/>
                </a:solidFill>
                <a:effectLst/>
              </a:rPr>
              <a:t>3) Knowledge Base</a:t>
            </a:r>
          </a:p>
          <a:p>
            <a:pPr algn="l"/>
            <a:r>
              <a:rPr lang="en-IN" b="0" i="0" dirty="0">
                <a:solidFill>
                  <a:srgbClr val="000000"/>
                </a:solidFill>
                <a:effectLst/>
              </a:rPr>
              <a:t>Stores structured information including: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000000"/>
                </a:solidFill>
                <a:effectLst/>
              </a:rPr>
              <a:t>HR Questions &amp; Sample Answers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000000"/>
                </a:solidFill>
                <a:effectLst/>
              </a:rPr>
              <a:t>Technical Questions &amp; Answers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000000"/>
                </a:solidFill>
                <a:effectLst/>
              </a:rPr>
              <a:t>Role-Based Questions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000000"/>
                </a:solidFill>
                <a:effectLst/>
              </a:rPr>
              <a:t>Interview Tips</a:t>
            </a:r>
          </a:p>
          <a:p>
            <a:pPr algn="l"/>
            <a:r>
              <a:rPr lang="en-IN" b="1" i="0" dirty="0">
                <a:solidFill>
                  <a:srgbClr val="000000"/>
                </a:solidFill>
                <a:effectLst/>
              </a:rPr>
              <a:t>4) RAG (Retrieval-Augmented Generation)</a:t>
            </a:r>
          </a:p>
          <a:p>
            <a:pPr algn="l"/>
            <a:r>
              <a:rPr lang="en-IN" b="0" i="0" dirty="0">
                <a:solidFill>
                  <a:srgbClr val="000000"/>
                </a:solidFill>
                <a:effectLst/>
              </a:rPr>
              <a:t>Retrieves relevant interview content from the uploaded knowledge base to improve response accuracy.</a:t>
            </a:r>
          </a:p>
          <a:p>
            <a:pPr algn="l"/>
            <a:r>
              <a:rPr lang="en-IN" b="1" i="0" dirty="0">
                <a:solidFill>
                  <a:srgbClr val="000000"/>
                </a:solidFill>
                <a:effectLst/>
              </a:rPr>
              <a:t>5) IBM Granite Model</a:t>
            </a:r>
          </a:p>
          <a:p>
            <a:pPr algn="l"/>
            <a:r>
              <a:rPr lang="en-IN" b="0" i="0" dirty="0">
                <a:solidFill>
                  <a:srgbClr val="000000"/>
                </a:solidFill>
                <a:effectLst/>
              </a:rPr>
              <a:t>Processes retrieved information and generates intelligent, context-aware interview guidance and answers.</a:t>
            </a:r>
          </a:p>
          <a:p>
            <a:pPr algn="l"/>
            <a:r>
              <a:rPr lang="en-IN" b="1" i="0" dirty="0">
                <a:solidFill>
                  <a:srgbClr val="000000"/>
                </a:solidFill>
                <a:effectLst/>
              </a:rPr>
              <a:t>6) Response Generation</a:t>
            </a:r>
          </a:p>
          <a:p>
            <a:pPr algn="l"/>
            <a:r>
              <a:rPr lang="en-IN" b="0" i="0" dirty="0">
                <a:solidFill>
                  <a:srgbClr val="000000"/>
                </a:solidFill>
                <a:effectLst/>
              </a:rPr>
              <a:t>Provides: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000000"/>
                </a:solidFill>
                <a:effectLst/>
              </a:rPr>
              <a:t>Interview Questions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000000"/>
                </a:solidFill>
                <a:effectLst/>
              </a:rPr>
              <a:t>Sample Answers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000000"/>
                </a:solidFill>
                <a:effectLst/>
              </a:rPr>
              <a:t>Interview Tips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000000"/>
                </a:solidFill>
                <a:effectLst/>
              </a:rPr>
              <a:t>Role-Specific Guidance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000000"/>
                </a:solidFill>
                <a:effectLst/>
              </a:rPr>
              <a:t>Personalized Interview Preparation</a:t>
            </a:r>
          </a:p>
        </p:txBody>
      </p:sp>
    </p:spTree>
    <p:extLst>
      <p:ext uri="{BB962C8B-B14F-4D97-AF65-F5344CB8AC3E}">
        <p14:creationId xmlns:p14="http://schemas.microsoft.com/office/powerpoint/2010/main" val="328526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B64CF172-D2AF-03D8-F919-AA7827A0D969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i="0" u="none" strike="noStrike" cap="none" dirty="0">
                <a:solidFill>
                  <a:srgbClr val="051D3A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Orchestrate</a:t>
            </a: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dirty="0">
                <a:sym typeface="Times New Roman"/>
              </a:rPr>
              <a:t>workflow -</a:t>
            </a:r>
            <a:endParaRPr sz="2400" b="1" dirty="0">
              <a:sym typeface="Times New Roman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A8DDB0A-2B23-DA44-EDE0-9F505410AF7F}"/>
              </a:ext>
            </a:extLst>
          </p:cNvPr>
          <p:cNvSpPr/>
          <p:nvPr/>
        </p:nvSpPr>
        <p:spPr>
          <a:xfrm>
            <a:off x="4164495" y="964095"/>
            <a:ext cx="2282023" cy="48701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User Query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50C40EE-D057-FF43-BA6F-95413DE68F68}"/>
              </a:ext>
            </a:extLst>
          </p:cNvPr>
          <p:cNvSpPr/>
          <p:nvPr/>
        </p:nvSpPr>
        <p:spPr>
          <a:xfrm>
            <a:off x="3894150" y="1759226"/>
            <a:ext cx="3269974" cy="56653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Interview Trainer Agent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D03EE5-D682-DDFD-66FB-AB531150E51D}"/>
              </a:ext>
            </a:extLst>
          </p:cNvPr>
          <p:cNvSpPr/>
          <p:nvPr/>
        </p:nvSpPr>
        <p:spPr>
          <a:xfrm>
            <a:off x="3617843" y="2564297"/>
            <a:ext cx="3806687" cy="56653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Knowledge Base + RAG Retrieval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AFC64C2-816F-91AA-C028-5B3A449599D1}"/>
              </a:ext>
            </a:extLst>
          </p:cNvPr>
          <p:cNvSpPr/>
          <p:nvPr/>
        </p:nvSpPr>
        <p:spPr>
          <a:xfrm>
            <a:off x="3617843" y="3468757"/>
            <a:ext cx="3945835" cy="53671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IBM Granite Model Processing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CC011C4-145B-FEDE-AC3B-41C6EE435791}"/>
              </a:ext>
            </a:extLst>
          </p:cNvPr>
          <p:cNvSpPr/>
          <p:nvPr/>
        </p:nvSpPr>
        <p:spPr>
          <a:xfrm>
            <a:off x="3617842" y="4343400"/>
            <a:ext cx="3945835" cy="155050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dirty="0"/>
              <a:t>Generated Output:</a:t>
            </a:r>
          </a:p>
          <a:p>
            <a:r>
              <a:rPr lang="en-IN" dirty="0"/>
              <a:t>• HR Interview Questions</a:t>
            </a:r>
          </a:p>
          <a:p>
            <a:r>
              <a:rPr lang="en-IN" dirty="0"/>
              <a:t>• Technical Questions</a:t>
            </a:r>
          </a:p>
          <a:p>
            <a:r>
              <a:rPr lang="en-IN" dirty="0"/>
              <a:t>• Role-Based Questions</a:t>
            </a:r>
          </a:p>
          <a:p>
            <a:r>
              <a:rPr lang="en-IN" dirty="0"/>
              <a:t>• Sample Answers</a:t>
            </a:r>
          </a:p>
          <a:p>
            <a:r>
              <a:rPr lang="en-IN" dirty="0"/>
              <a:t>• Interview Tips</a:t>
            </a:r>
          </a:p>
          <a:p>
            <a:r>
              <a:rPr lang="en-IN" dirty="0"/>
              <a:t>• Personalized Guidance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CB49633-24CD-C3C1-657B-B9FB141A4834}"/>
              </a:ext>
            </a:extLst>
          </p:cNvPr>
          <p:cNvSpPr/>
          <p:nvPr/>
        </p:nvSpPr>
        <p:spPr>
          <a:xfrm>
            <a:off x="4385145" y="6135951"/>
            <a:ext cx="2482793" cy="56653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User Response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62847DD-7BDD-D650-D842-D544CCE50BBB}"/>
              </a:ext>
            </a:extLst>
          </p:cNvPr>
          <p:cNvCxnSpPr>
            <a:stCxn id="7" idx="2"/>
          </p:cNvCxnSpPr>
          <p:nvPr/>
        </p:nvCxnSpPr>
        <p:spPr>
          <a:xfrm>
            <a:off x="5305507" y="1451112"/>
            <a:ext cx="1989" cy="28823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6C2AF94-02F5-C8EB-E0CB-6FC954DAA80F}"/>
              </a:ext>
            </a:extLst>
          </p:cNvPr>
          <p:cNvCxnSpPr/>
          <p:nvPr/>
        </p:nvCxnSpPr>
        <p:spPr>
          <a:xfrm>
            <a:off x="5387009" y="2325756"/>
            <a:ext cx="0" cy="2385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014C261-725C-BCD4-0920-E4540E4BAD29}"/>
              </a:ext>
            </a:extLst>
          </p:cNvPr>
          <p:cNvCxnSpPr>
            <a:stCxn id="9" idx="2"/>
          </p:cNvCxnSpPr>
          <p:nvPr/>
        </p:nvCxnSpPr>
        <p:spPr>
          <a:xfrm flipH="1">
            <a:off x="5521186" y="3130827"/>
            <a:ext cx="1" cy="3379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38315DB-C645-4EF4-1486-17941D3479BB}"/>
              </a:ext>
            </a:extLst>
          </p:cNvPr>
          <p:cNvCxnSpPr>
            <a:stCxn id="10" idx="2"/>
            <a:endCxn id="11" idx="0"/>
          </p:cNvCxnSpPr>
          <p:nvPr/>
        </p:nvCxnSpPr>
        <p:spPr>
          <a:xfrm flipH="1">
            <a:off x="5590760" y="4005470"/>
            <a:ext cx="1" cy="3379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34DBDF6-9C39-E1CC-6617-5ADB6EE5C846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>
            <a:off x="5590760" y="5893905"/>
            <a:ext cx="35782" cy="2420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2501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78578745-3233-E2C4-2AF4-55BA57C68D3F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 Architecture blueprint</a:t>
            </a:r>
            <a:endParaRPr 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6ED387-7E3F-12A9-A082-CE101AF791FB}"/>
              </a:ext>
            </a:extLst>
          </p:cNvPr>
          <p:cNvSpPr txBox="1"/>
          <p:nvPr/>
        </p:nvSpPr>
        <p:spPr>
          <a:xfrm>
            <a:off x="1285460" y="1170107"/>
            <a:ext cx="7489962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👨‍🎓 Candidate / Student</a:t>
            </a:r>
          </a:p>
          <a:p>
            <a:r>
              <a:rPr lang="en-IN" dirty="0"/>
              <a:t>        ↓</a:t>
            </a:r>
          </a:p>
          <a:p>
            <a:r>
              <a:rPr lang="en-IN" dirty="0"/>
              <a:t>💬 Chat Interface</a:t>
            </a:r>
          </a:p>
          <a:p>
            <a:r>
              <a:rPr lang="en-IN" dirty="0"/>
              <a:t>        ↓</a:t>
            </a:r>
          </a:p>
          <a:p>
            <a:r>
              <a:rPr lang="en-IN" dirty="0"/>
              <a:t>🤖 Interview Trainer Agent (IBM </a:t>
            </a:r>
            <a:r>
              <a:rPr lang="en-IN" dirty="0" err="1"/>
              <a:t>watsonx</a:t>
            </a:r>
            <a:r>
              <a:rPr lang="en-IN" dirty="0"/>
              <a:t> Orchestrate)</a:t>
            </a:r>
          </a:p>
          <a:p>
            <a:r>
              <a:rPr lang="en-IN" dirty="0"/>
              <a:t>        ↓</a:t>
            </a:r>
          </a:p>
          <a:p>
            <a:r>
              <a:rPr lang="en-IN" dirty="0"/>
              <a:t>📚 Knowledge Base</a:t>
            </a:r>
          </a:p>
          <a:p>
            <a:r>
              <a:rPr lang="en-IN" dirty="0"/>
              <a:t>(</a:t>
            </a:r>
            <a:r>
              <a:rPr lang="en-IN" dirty="0" err="1"/>
              <a:t>HR_Questions.xlsx</a:t>
            </a:r>
            <a:endParaRPr lang="en-IN" dirty="0"/>
          </a:p>
          <a:p>
            <a:r>
              <a:rPr lang="en-IN" dirty="0" err="1"/>
              <a:t>Technical_Questions.xlsx</a:t>
            </a:r>
            <a:endParaRPr lang="en-IN" dirty="0"/>
          </a:p>
          <a:p>
            <a:r>
              <a:rPr lang="en-IN" dirty="0" err="1"/>
              <a:t>Role_Based_Questions.xlsx</a:t>
            </a:r>
            <a:endParaRPr lang="en-IN" dirty="0"/>
          </a:p>
          <a:p>
            <a:r>
              <a:rPr lang="en-IN" dirty="0" err="1"/>
              <a:t>Interview_Tips.xlsx</a:t>
            </a:r>
            <a:r>
              <a:rPr lang="en-IN" dirty="0"/>
              <a:t>)</a:t>
            </a:r>
          </a:p>
          <a:p>
            <a:r>
              <a:rPr lang="en-IN" dirty="0"/>
              <a:t>        ↓</a:t>
            </a:r>
          </a:p>
          <a:p>
            <a:r>
              <a:rPr lang="en-IN" dirty="0"/>
              <a:t>🔎 RAG (Retrieval-Augmented Generation)</a:t>
            </a:r>
          </a:p>
          <a:p>
            <a:r>
              <a:rPr lang="en-IN" dirty="0"/>
              <a:t>        ↓</a:t>
            </a:r>
          </a:p>
          <a:p>
            <a:r>
              <a:rPr lang="en-IN" dirty="0"/>
              <a:t>🧠 IBM Granite Model</a:t>
            </a:r>
          </a:p>
          <a:p>
            <a:r>
              <a:rPr lang="en-IN" dirty="0"/>
              <a:t>        ↓</a:t>
            </a:r>
          </a:p>
          <a:p>
            <a:r>
              <a:rPr lang="en-IN" dirty="0"/>
              <a:t>📋 Personalized Interview Preparation</a:t>
            </a:r>
          </a:p>
          <a:p>
            <a:r>
              <a:rPr lang="en-IN" dirty="0"/>
              <a:t>        ↓</a:t>
            </a:r>
          </a:p>
          <a:p>
            <a:r>
              <a:rPr lang="en-IN" dirty="0"/>
              <a:t>📊 HR Questions + Technical Questions</a:t>
            </a:r>
          </a:p>
          <a:p>
            <a:r>
              <a:rPr lang="en-IN" dirty="0"/>
              <a:t>+ Role-Based Questions + Interview Tips</a:t>
            </a:r>
          </a:p>
          <a:p>
            <a:r>
              <a:rPr lang="en-IN" dirty="0"/>
              <a:t>        ↓</a:t>
            </a:r>
          </a:p>
          <a:p>
            <a:r>
              <a:rPr lang="en-IN" dirty="0"/>
              <a:t>✅ Interview Ready Candidate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97849-1C9D-DD25-AF83-64F0EB576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687" y="417443"/>
            <a:ext cx="10631831" cy="523220"/>
          </a:xfrm>
        </p:spPr>
        <p:txBody>
          <a:bodyPr>
            <a:normAutofit fontScale="90000"/>
          </a:bodyPr>
          <a:lstStyle/>
          <a:p>
            <a:r>
              <a:rPr lang="en-IN" sz="3600" dirty="0">
                <a:latin typeface="Arial" panose="020B0604020202020204" pitchFamily="34" charset="0"/>
                <a:cs typeface="Arial" panose="020B0604020202020204" pitchFamily="34" charset="0"/>
              </a:rPr>
              <a:t>Results and Outputs: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341A8E-A9DD-0736-4F4B-BD2548B59617}"/>
              </a:ext>
            </a:extLst>
          </p:cNvPr>
          <p:cNvSpPr txBox="1"/>
          <p:nvPr/>
        </p:nvSpPr>
        <p:spPr>
          <a:xfrm>
            <a:off x="377687" y="1073426"/>
            <a:ext cx="467139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Agent Configuration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C97847-A38C-DB0F-3D71-FBA1884415A3}"/>
              </a:ext>
            </a:extLst>
          </p:cNvPr>
          <p:cNvSpPr txBox="1"/>
          <p:nvPr/>
        </p:nvSpPr>
        <p:spPr>
          <a:xfrm>
            <a:off x="5178288" y="1073426"/>
            <a:ext cx="396819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Knowledge Base Setup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B9F4558-8FFB-67B5-24CA-EA8CFCBCA87B}"/>
              </a:ext>
            </a:extLst>
          </p:cNvPr>
          <p:cNvSpPr txBox="1"/>
          <p:nvPr/>
        </p:nvSpPr>
        <p:spPr>
          <a:xfrm>
            <a:off x="5049078" y="3260036"/>
            <a:ext cx="4097406" cy="96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Generated Learning Path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70CD16F-622C-9CA2-52EC-2C1A26DD2EC4}"/>
              </a:ext>
            </a:extLst>
          </p:cNvPr>
          <p:cNvSpPr txBox="1"/>
          <p:nvPr/>
        </p:nvSpPr>
        <p:spPr>
          <a:xfrm>
            <a:off x="506896" y="3275112"/>
            <a:ext cx="4303642" cy="954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User Input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050BCE-C028-36D1-FC3A-BBCD0C4F79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893" y="1364878"/>
            <a:ext cx="2951924" cy="237838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C782CEF-15F1-934E-A047-221AB8CEA3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9341" y="149087"/>
            <a:ext cx="3837128" cy="374318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9FF6102-C902-5016-7042-C0B91F8142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777" y="4481563"/>
            <a:ext cx="5139134" cy="1922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4158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41BCEA-524D-84B6-E1E6-E7A8DAE580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-84756" y="-68661"/>
            <a:ext cx="11062252" cy="5739641"/>
          </a:xfrm>
        </p:spPr>
        <p:txBody>
          <a:bodyPr/>
          <a:lstStyle/>
          <a:p>
            <a:r>
              <a:rPr lang="en-IN" sz="2000" dirty="0"/>
              <a:t>Generated Learning Path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D410D6-6348-05AD-03F3-9840DD68DD2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628" r="2281"/>
          <a:stretch/>
        </p:blipFill>
        <p:spPr>
          <a:xfrm>
            <a:off x="725830" y="328904"/>
            <a:ext cx="5171387" cy="36207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3F2B58C-8FCB-6876-7FDD-8ABC1A7C03A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9761"/>
          <a:stretch/>
        </p:blipFill>
        <p:spPr>
          <a:xfrm>
            <a:off x="448366" y="3949699"/>
            <a:ext cx="5647634" cy="29083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221B1FC-B360-CC70-B2F4-B4A94E5747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4785" y="62023"/>
            <a:ext cx="5622232" cy="29462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0644A14-E338-C71E-19AD-9D2D0B27EB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4554" y="3138927"/>
            <a:ext cx="5598149" cy="3452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0800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1985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4A7B44-8B20-5A39-ED43-DA98D0FC7976}"/>
              </a:ext>
            </a:extLst>
          </p:cNvPr>
          <p:cNvSpPr txBox="1"/>
          <p:nvPr/>
        </p:nvSpPr>
        <p:spPr>
          <a:xfrm>
            <a:off x="475488" y="283464"/>
            <a:ext cx="931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Role of Agentic AI in the solution </a:t>
            </a:r>
            <a:endParaRPr lang="en-IN" sz="32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2462E8-EB3A-DA7D-44CB-4E757803A755}"/>
              </a:ext>
            </a:extLst>
          </p:cNvPr>
          <p:cNvSpPr txBox="1"/>
          <p:nvPr/>
        </p:nvSpPr>
        <p:spPr>
          <a:xfrm>
            <a:off x="621792" y="1167493"/>
            <a:ext cx="740664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b="1" i="0" dirty="0">
                <a:solidFill>
                  <a:srgbClr val="000000"/>
                </a:solidFill>
                <a:effectLst/>
              </a:rPr>
              <a:t>Role of Agentic AI in Interview Trainer Agent</a:t>
            </a:r>
          </a:p>
          <a:p>
            <a:pPr algn="l"/>
            <a:r>
              <a:rPr lang="en-IN" b="0" i="0" dirty="0">
                <a:solidFill>
                  <a:srgbClr val="000000"/>
                </a:solidFill>
                <a:effectLst/>
              </a:rPr>
              <a:t>• Agentic AI enables the Interview Trainer Agent to act as an intelligent interview preparation assistant rather than a simple question-answer chatbot.</a:t>
            </a:r>
          </a:p>
          <a:p>
            <a:pPr algn="l"/>
            <a:r>
              <a:rPr lang="en-IN" b="0" i="0" dirty="0">
                <a:solidFill>
                  <a:srgbClr val="000000"/>
                </a:solidFill>
                <a:effectLst/>
              </a:rPr>
              <a:t>• Using </a:t>
            </a:r>
            <a:r>
              <a:rPr lang="en-IN" b="1" i="0" dirty="0">
                <a:solidFill>
                  <a:srgbClr val="000000"/>
                </a:solidFill>
                <a:effectLst/>
              </a:rPr>
              <a:t>IBM </a:t>
            </a:r>
            <a:r>
              <a:rPr lang="en-IN" b="1" i="0" dirty="0" err="1">
                <a:solidFill>
                  <a:srgbClr val="000000"/>
                </a:solidFill>
                <a:effectLst/>
              </a:rPr>
              <a:t>watsonx</a:t>
            </a:r>
            <a:r>
              <a:rPr lang="en-IN" b="1" i="0" dirty="0">
                <a:solidFill>
                  <a:srgbClr val="000000"/>
                </a:solidFill>
                <a:effectLst/>
              </a:rPr>
              <a:t> Orchestrate</a:t>
            </a:r>
            <a:r>
              <a:rPr lang="en-IN" b="0" i="0" dirty="0">
                <a:solidFill>
                  <a:srgbClr val="000000"/>
                </a:solidFill>
                <a:effectLst/>
              </a:rPr>
              <a:t> and </a:t>
            </a:r>
            <a:r>
              <a:rPr lang="en-IN" b="1" i="0" dirty="0">
                <a:solidFill>
                  <a:srgbClr val="000000"/>
                </a:solidFill>
                <a:effectLst/>
              </a:rPr>
              <a:t>IBM Granite Models</a:t>
            </a:r>
            <a:r>
              <a:rPr lang="en-IN" b="0" i="0" dirty="0">
                <a:solidFill>
                  <a:srgbClr val="000000"/>
                </a:solidFill>
                <a:effectLst/>
              </a:rPr>
              <a:t>, the system analyzes user queries and provides personalized interview guidance.</a:t>
            </a:r>
          </a:p>
          <a:p>
            <a:pPr algn="l"/>
            <a:r>
              <a:rPr lang="en-IN" b="0" i="0" dirty="0">
                <a:solidFill>
                  <a:srgbClr val="000000"/>
                </a:solidFill>
                <a:effectLst/>
              </a:rPr>
              <a:t>• The solution follows an </a:t>
            </a:r>
            <a:r>
              <a:rPr lang="en-IN" b="1" i="0" dirty="0">
                <a:solidFill>
                  <a:srgbClr val="000000"/>
                </a:solidFill>
                <a:effectLst/>
              </a:rPr>
              <a:t>agent-based approach</a:t>
            </a:r>
            <a:r>
              <a:rPr lang="en-IN" b="0" i="0" dirty="0">
                <a:solidFill>
                  <a:srgbClr val="000000"/>
                </a:solidFill>
                <a:effectLst/>
              </a:rPr>
              <a:t>, where the agent retrieves relevant information from the interview knowledge base and generates contextual responses.</a:t>
            </a:r>
          </a:p>
          <a:p>
            <a:pPr algn="l"/>
            <a:r>
              <a:rPr lang="en-IN" b="0" i="0" dirty="0">
                <a:solidFill>
                  <a:srgbClr val="000000"/>
                </a:solidFill>
                <a:effectLst/>
              </a:rPr>
              <a:t>• The Interview Trainer Agent helps users practice: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000000"/>
                </a:solidFill>
                <a:effectLst/>
              </a:rPr>
              <a:t>HR Interview Questions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000000"/>
                </a:solidFill>
                <a:effectLst/>
              </a:rPr>
              <a:t>Technical Questions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000000"/>
                </a:solidFill>
                <a:effectLst/>
              </a:rPr>
              <a:t>Role-Based Questions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000000"/>
                </a:solidFill>
                <a:effectLst/>
              </a:rPr>
              <a:t>Interview Preparation Tips</a:t>
            </a:r>
          </a:p>
          <a:p>
            <a:pPr algn="l"/>
            <a:r>
              <a:rPr lang="en-IN" b="0" i="0" dirty="0">
                <a:solidFill>
                  <a:srgbClr val="000000"/>
                </a:solidFill>
                <a:effectLst/>
              </a:rPr>
              <a:t>• Through </a:t>
            </a:r>
            <a:r>
              <a:rPr lang="en-IN" b="1" i="0" dirty="0">
                <a:solidFill>
                  <a:srgbClr val="000000"/>
                </a:solidFill>
                <a:effectLst/>
              </a:rPr>
              <a:t>RAG (Retrieval-Augmented Generation)</a:t>
            </a:r>
            <a:r>
              <a:rPr lang="en-IN" b="0" i="0" dirty="0">
                <a:solidFill>
                  <a:srgbClr val="000000"/>
                </a:solidFill>
                <a:effectLst/>
              </a:rPr>
              <a:t>, the agent retrieves relevant interview content from the uploaded datasets before generating answers.</a:t>
            </a:r>
          </a:p>
          <a:p>
            <a:pPr algn="l"/>
            <a:r>
              <a:rPr lang="en-IN" b="0" i="0" dirty="0">
                <a:solidFill>
                  <a:srgbClr val="000000"/>
                </a:solidFill>
                <a:effectLst/>
              </a:rPr>
              <a:t>• Agentic AI provides personalized suggestions based on the user's selected role, skill level, and interview requirements.</a:t>
            </a:r>
          </a:p>
          <a:p>
            <a:pPr algn="l"/>
            <a:r>
              <a:rPr lang="en-IN" b="0" i="0" dirty="0">
                <a:solidFill>
                  <a:srgbClr val="000000"/>
                </a:solidFill>
                <a:effectLst/>
              </a:rPr>
              <a:t>• The system improves interview readiness by offering structured practice, sample answers, and preparation guidance.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Technology Used</a:t>
            </a:r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777240" y="1207008"/>
            <a:ext cx="105156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b="1" i="0" dirty="0">
                <a:solidFill>
                  <a:srgbClr val="000000"/>
                </a:solidFill>
                <a:effectLst/>
              </a:rPr>
              <a:t>IBM </a:t>
            </a:r>
            <a:r>
              <a:rPr lang="en-IN" b="1" i="0" dirty="0" err="1">
                <a:solidFill>
                  <a:srgbClr val="000000"/>
                </a:solidFill>
                <a:effectLst/>
              </a:rPr>
              <a:t>watsonx</a:t>
            </a:r>
            <a:r>
              <a:rPr lang="en-IN" b="1" i="0" dirty="0">
                <a:solidFill>
                  <a:srgbClr val="000000"/>
                </a:solidFill>
                <a:effectLst/>
              </a:rPr>
              <a:t> Orchestrate</a:t>
            </a:r>
            <a:r>
              <a:rPr lang="en-IN" b="0" i="0" dirty="0">
                <a:solidFill>
                  <a:srgbClr val="000000"/>
                </a:solidFill>
                <a:effectLst/>
              </a:rPr>
              <a:t> : Used to design and manage the Interview Trainer Agent workflow and coordinate interactions between components.</a:t>
            </a:r>
          </a:p>
          <a:p>
            <a:pPr algn="l"/>
            <a:r>
              <a:rPr lang="en-IN" b="0" i="0" dirty="0">
                <a:solidFill>
                  <a:srgbClr val="000000"/>
                </a:solidFill>
                <a:effectLst/>
              </a:rPr>
              <a:t>• </a:t>
            </a:r>
            <a:r>
              <a:rPr lang="en-IN" b="1" i="0" dirty="0">
                <a:solidFill>
                  <a:srgbClr val="000000"/>
                </a:solidFill>
                <a:effectLst/>
              </a:rPr>
              <a:t>IBM Granite Model (Granite 3.2-8B Instruct)</a:t>
            </a:r>
            <a:r>
              <a:rPr lang="en-IN" b="0" i="0" dirty="0">
                <a:solidFill>
                  <a:srgbClr val="000000"/>
                </a:solidFill>
                <a:effectLst/>
              </a:rPr>
              <a:t> : Used for natural language understanding, reasoning, and generating intelligent interview responses.</a:t>
            </a:r>
          </a:p>
          <a:p>
            <a:pPr algn="l"/>
            <a:r>
              <a:rPr lang="en-IN" b="0" i="0" dirty="0">
                <a:solidFill>
                  <a:srgbClr val="000000"/>
                </a:solidFill>
                <a:effectLst/>
              </a:rPr>
              <a:t>• </a:t>
            </a:r>
            <a:r>
              <a:rPr lang="en-IN" b="1" i="0" dirty="0">
                <a:solidFill>
                  <a:srgbClr val="000000"/>
                </a:solidFill>
                <a:effectLst/>
              </a:rPr>
              <a:t>Retrieval-Augmented Generation (RAG)</a:t>
            </a:r>
            <a:r>
              <a:rPr lang="en-IN" b="0" i="0" dirty="0">
                <a:solidFill>
                  <a:srgbClr val="000000"/>
                </a:solidFill>
                <a:effectLst/>
              </a:rPr>
              <a:t> : Retrieves relevant interview questions, answers, and tips from the uploaded knowledge base before generating responses.</a:t>
            </a:r>
          </a:p>
          <a:p>
            <a:pPr algn="l"/>
            <a:r>
              <a:rPr lang="en-IN" b="0" i="0" dirty="0">
                <a:solidFill>
                  <a:srgbClr val="000000"/>
                </a:solidFill>
                <a:effectLst/>
              </a:rPr>
              <a:t>• </a:t>
            </a:r>
            <a:r>
              <a:rPr lang="en-IN" b="1" i="0" dirty="0">
                <a:solidFill>
                  <a:srgbClr val="000000"/>
                </a:solidFill>
                <a:effectLst/>
              </a:rPr>
              <a:t>Knowledge Base</a:t>
            </a:r>
            <a:r>
              <a:rPr lang="en-IN" b="0" i="0" dirty="0">
                <a:solidFill>
                  <a:srgbClr val="000000"/>
                </a:solidFill>
                <a:effectLst/>
              </a:rPr>
              <a:t> : Stores HR questions, technical questions, role-based questions, and interview preparation tips.</a:t>
            </a:r>
          </a:p>
          <a:p>
            <a:pPr algn="l"/>
            <a:r>
              <a:rPr lang="en-IN" b="0" i="0" dirty="0">
                <a:solidFill>
                  <a:srgbClr val="000000"/>
                </a:solidFill>
                <a:effectLst/>
              </a:rPr>
              <a:t>• </a:t>
            </a:r>
            <a:r>
              <a:rPr lang="en-IN" b="1" i="0" dirty="0">
                <a:solidFill>
                  <a:srgbClr val="000000"/>
                </a:solidFill>
                <a:effectLst/>
              </a:rPr>
              <a:t>IBM </a:t>
            </a:r>
            <a:r>
              <a:rPr lang="en-IN" b="1" i="0" dirty="0" err="1">
                <a:solidFill>
                  <a:srgbClr val="000000"/>
                </a:solidFill>
                <a:effectLst/>
              </a:rPr>
              <a:t>watsonx.ai</a:t>
            </a:r>
            <a:r>
              <a:rPr lang="en-IN" b="0" i="0" dirty="0">
                <a:solidFill>
                  <a:srgbClr val="000000"/>
                </a:solidFill>
                <a:effectLst/>
              </a:rPr>
              <a:t> : Provides the AI foundation for building, testing, and managing the Interview Trainer Agent.</a:t>
            </a:r>
          </a:p>
          <a:p>
            <a:pPr algn="l"/>
            <a:r>
              <a:rPr lang="en-IN" b="0" i="0" dirty="0">
                <a:solidFill>
                  <a:srgbClr val="000000"/>
                </a:solidFill>
                <a:effectLst/>
              </a:rPr>
              <a:t>• </a:t>
            </a:r>
            <a:r>
              <a:rPr lang="en-IN" b="1" i="0" dirty="0">
                <a:solidFill>
                  <a:srgbClr val="000000"/>
                </a:solidFill>
                <a:effectLst/>
              </a:rPr>
              <a:t>GitHub</a:t>
            </a:r>
            <a:r>
              <a:rPr lang="en-IN" b="0" i="0" dirty="0">
                <a:solidFill>
                  <a:srgbClr val="000000"/>
                </a:solidFill>
                <a:effectLst/>
              </a:rPr>
              <a:t> : Used for version control, documentation, and project sharing.</a:t>
            </a:r>
          </a:p>
        </p:txBody>
      </p:sp>
    </p:spTree>
    <p:extLst>
      <p:ext uri="{BB962C8B-B14F-4D97-AF65-F5344CB8AC3E}">
        <p14:creationId xmlns:p14="http://schemas.microsoft.com/office/powerpoint/2010/main" val="37644058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Novelty and Uniqueness</a:t>
            </a:r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65F54F-855A-0DB6-09A6-3212C5F7405B}"/>
              </a:ext>
            </a:extLst>
          </p:cNvPr>
          <p:cNvSpPr txBox="1"/>
          <p:nvPr/>
        </p:nvSpPr>
        <p:spPr>
          <a:xfrm>
            <a:off x="777240" y="1216947"/>
            <a:ext cx="11301984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b="0" i="0" dirty="0">
                <a:solidFill>
                  <a:srgbClr val="000000"/>
                </a:solidFill>
                <a:effectLst/>
              </a:rPr>
              <a:t>The </a:t>
            </a:r>
            <a:r>
              <a:rPr lang="en-IN" b="1" i="0" dirty="0">
                <a:solidFill>
                  <a:srgbClr val="000000"/>
                </a:solidFill>
                <a:effectLst/>
              </a:rPr>
              <a:t>Interview Trainer Agent</a:t>
            </a:r>
            <a:r>
              <a:rPr lang="en-IN" b="0" i="0" dirty="0">
                <a:solidFill>
                  <a:srgbClr val="000000"/>
                </a:solidFill>
                <a:effectLst/>
              </a:rPr>
              <a:t> combines </a:t>
            </a:r>
            <a:r>
              <a:rPr lang="en-IN" b="1" i="0" dirty="0">
                <a:solidFill>
                  <a:srgbClr val="000000"/>
                </a:solidFill>
                <a:effectLst/>
              </a:rPr>
              <a:t>Agentic AI, RAG, IBM Granite Models, and conversational learning</a:t>
            </a:r>
            <a:r>
              <a:rPr lang="en-IN" b="0" i="0" dirty="0">
                <a:solidFill>
                  <a:srgbClr val="000000"/>
                </a:solidFill>
                <a:effectLst/>
              </a:rPr>
              <a:t> to create an intelligent interview preparation platform.</a:t>
            </a:r>
          </a:p>
          <a:p>
            <a:pPr algn="l"/>
            <a:r>
              <a:rPr lang="en-IN" b="1" i="0" dirty="0">
                <a:solidFill>
                  <a:srgbClr val="000000"/>
                </a:solidFill>
                <a:effectLst/>
              </a:rPr>
              <a:t>Key Unique Features</a:t>
            </a:r>
          </a:p>
          <a:p>
            <a:pPr algn="l"/>
            <a:r>
              <a:rPr lang="en-IN" b="1" i="0" dirty="0">
                <a:solidFill>
                  <a:srgbClr val="000000"/>
                </a:solidFill>
                <a:effectLst/>
              </a:rPr>
              <a:t>Personalized Interview Preparation</a:t>
            </a:r>
            <a:r>
              <a:rPr lang="en-IN" b="0" i="0" dirty="0">
                <a:solidFill>
                  <a:srgbClr val="000000"/>
                </a:solidFill>
                <a:effectLst/>
              </a:rPr>
              <a:t> : Provides interview guidance based on the user's role, skills, and career goals.</a:t>
            </a:r>
          </a:p>
          <a:p>
            <a:pPr algn="l"/>
            <a:r>
              <a:rPr lang="en-IN" b="1" i="0" dirty="0">
                <a:solidFill>
                  <a:srgbClr val="000000"/>
                </a:solidFill>
                <a:effectLst/>
              </a:rPr>
              <a:t>Role-Based Question Practice</a:t>
            </a:r>
            <a:r>
              <a:rPr lang="en-IN" b="0" i="0" dirty="0">
                <a:solidFill>
                  <a:srgbClr val="000000"/>
                </a:solidFill>
                <a:effectLst/>
              </a:rPr>
              <a:t> : Offers specialized interview questions for Software Developer and other technical roles.</a:t>
            </a:r>
          </a:p>
          <a:p>
            <a:pPr algn="l"/>
            <a:r>
              <a:rPr lang="en-IN" b="1" i="0" dirty="0">
                <a:solidFill>
                  <a:srgbClr val="000000"/>
                </a:solidFill>
                <a:effectLst/>
              </a:rPr>
              <a:t>RAG-Based Knowledge Retrieval</a:t>
            </a:r>
            <a:r>
              <a:rPr lang="en-IN" b="0" i="0" dirty="0">
                <a:solidFill>
                  <a:srgbClr val="000000"/>
                </a:solidFill>
                <a:effectLst/>
              </a:rPr>
              <a:t> : Retrieves relevant interview questions, answers, and tips from the knowledge base before generating responses.</a:t>
            </a:r>
          </a:p>
          <a:p>
            <a:pPr algn="l"/>
            <a:r>
              <a:rPr lang="en-IN" b="1" i="0" dirty="0">
                <a:solidFill>
                  <a:srgbClr val="000000"/>
                </a:solidFill>
                <a:effectLst/>
              </a:rPr>
              <a:t>AI-Powered Answer Generation</a:t>
            </a:r>
            <a:r>
              <a:rPr lang="en-IN" b="0" i="0" dirty="0">
                <a:solidFill>
                  <a:srgbClr val="000000"/>
                </a:solidFill>
                <a:effectLst/>
              </a:rPr>
              <a:t> : Uses IBM Granite Models to generate contextual and intelligent interview guidance.</a:t>
            </a:r>
          </a:p>
          <a:p>
            <a:pPr algn="l"/>
            <a:r>
              <a:rPr lang="en-IN" b="1" i="0" dirty="0">
                <a:solidFill>
                  <a:srgbClr val="000000"/>
                </a:solidFill>
                <a:effectLst/>
              </a:rPr>
              <a:t>Interactive Conversational Experience</a:t>
            </a:r>
            <a:r>
              <a:rPr lang="en-IN" b="0" i="0" dirty="0">
                <a:solidFill>
                  <a:srgbClr val="000000"/>
                </a:solidFill>
                <a:effectLst/>
              </a:rPr>
              <a:t> : Users can ask interview-related questions naturally and receive instant assistance.</a:t>
            </a:r>
          </a:p>
          <a:p>
            <a:pPr algn="l"/>
            <a:r>
              <a:rPr lang="en-IN" b="1" i="0" dirty="0">
                <a:solidFill>
                  <a:srgbClr val="000000"/>
                </a:solidFill>
                <a:effectLst/>
              </a:rPr>
              <a:t>Comprehensive Interview Coverage</a:t>
            </a:r>
            <a:r>
              <a:rPr lang="en-IN" b="0" i="0" dirty="0">
                <a:solidFill>
                  <a:srgbClr val="000000"/>
                </a:solidFill>
                <a:effectLst/>
              </a:rPr>
              <a:t> : Supports HR Questions, Technical Questions, Role-Based Questions, and Interview Tips in a single platform.</a:t>
            </a:r>
          </a:p>
          <a:p>
            <a:pPr algn="l"/>
            <a:r>
              <a:rPr lang="en-IN" b="1" i="0" dirty="0">
                <a:solidFill>
                  <a:srgbClr val="000000"/>
                </a:solidFill>
                <a:effectLst/>
              </a:rPr>
              <a:t>Agentic AI Workflow</a:t>
            </a:r>
            <a:r>
              <a:rPr lang="en-IN" b="0" i="0" dirty="0">
                <a:solidFill>
                  <a:srgbClr val="000000"/>
                </a:solidFill>
                <a:effectLst/>
              </a:rPr>
              <a:t> : The agent independently retrieves knowledge, understands user intent, and generates personalized responses.</a:t>
            </a:r>
          </a:p>
          <a:p>
            <a:pPr algn="l"/>
            <a:r>
              <a:rPr lang="en-IN" b="1" i="0" dirty="0">
                <a:solidFill>
                  <a:srgbClr val="000000"/>
                </a:solidFill>
                <a:effectLst/>
              </a:rPr>
              <a:t>Improved Interview Readiness</a:t>
            </a:r>
            <a:r>
              <a:rPr lang="en-IN" b="0" i="0" dirty="0">
                <a:solidFill>
                  <a:srgbClr val="000000"/>
                </a:solidFill>
                <a:effectLst/>
              </a:rPr>
              <a:t> : Helps candidates build confidence, improve communication skills, and prepare effectively for interviews.</a:t>
            </a:r>
          </a:p>
        </p:txBody>
      </p:sp>
    </p:spTree>
    <p:extLst>
      <p:ext uri="{BB962C8B-B14F-4D97-AF65-F5344CB8AC3E}">
        <p14:creationId xmlns:p14="http://schemas.microsoft.com/office/powerpoint/2010/main" val="9179641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55016524-E738-3D8C-3BB2-B0BE7C665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D62F03A8-A8A8-CB93-006E-7173DC866F6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Git Hub Link</a:t>
            </a:r>
            <a:endParaRPr sz="24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15507A2F-9304-7475-5C74-2BAA93879CFE}"/>
              </a:ext>
            </a:extLst>
          </p:cNvPr>
          <p:cNvSpPr/>
          <p:nvPr/>
        </p:nvSpPr>
        <p:spPr>
          <a:xfrm>
            <a:off x="1218724" y="1153712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4423EF4-BB52-2693-03DD-9F7D92D05218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FF042814-8077-DBD5-E8B6-E0D870CADB86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6A2761AF-8A54-98F2-52C2-794D9BA61C9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055AD4-D63F-38C6-6247-157EDFB7E155}"/>
              </a:ext>
            </a:extLst>
          </p:cNvPr>
          <p:cNvSpPr txBox="1"/>
          <p:nvPr/>
        </p:nvSpPr>
        <p:spPr>
          <a:xfrm>
            <a:off x="914400" y="1696488"/>
            <a:ext cx="110109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https://</a:t>
            </a:r>
            <a:r>
              <a:rPr lang="en-US" sz="2000" dirty="0" err="1"/>
              <a:t>github.com</a:t>
            </a:r>
            <a:r>
              <a:rPr lang="en-US" sz="2000" dirty="0"/>
              <a:t>/nithya-0719/Interview-Trainer-</a:t>
            </a:r>
            <a:r>
              <a:rPr lang="en-US" sz="2000" dirty="0" err="1"/>
              <a:t>Agent.git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1154848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Future Scope </a:t>
            </a:r>
            <a:endParaRPr sz="24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1218724" y="1221715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13FA8F-2F2C-EA3A-5E6D-BED70ACA37C6}"/>
              </a:ext>
            </a:extLst>
          </p:cNvPr>
          <p:cNvSpPr txBox="1"/>
          <p:nvPr/>
        </p:nvSpPr>
        <p:spPr>
          <a:xfrm>
            <a:off x="1053548" y="1356625"/>
            <a:ext cx="10925091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b="1" i="0" dirty="0">
                <a:solidFill>
                  <a:srgbClr val="000000"/>
                </a:solidFill>
                <a:effectLst/>
              </a:rPr>
              <a:t>• Support More Job Roles</a:t>
            </a:r>
          </a:p>
          <a:p>
            <a:pPr algn="l"/>
            <a:r>
              <a:rPr lang="en-IN" b="0" i="0" dirty="0">
                <a:solidFill>
                  <a:srgbClr val="000000"/>
                </a:solidFill>
                <a:effectLst/>
              </a:rPr>
              <a:t>Expand the knowledge base to support additional roles such as Data Analyst, Data Scientist, Cloud Engineer, Cybersecurity Analyst, DevOps Engineer, and UI/UX Designer.</a:t>
            </a:r>
          </a:p>
          <a:p>
            <a:pPr algn="l"/>
            <a:r>
              <a:rPr lang="en-IN" b="1" i="0" dirty="0">
                <a:solidFill>
                  <a:srgbClr val="000000"/>
                </a:solidFill>
                <a:effectLst/>
              </a:rPr>
              <a:t>• AI-Based Mock Interviews</a:t>
            </a:r>
          </a:p>
          <a:p>
            <a:pPr algn="l"/>
            <a:r>
              <a:rPr lang="en-IN" b="0" i="0" dirty="0">
                <a:solidFill>
                  <a:srgbClr val="000000"/>
                </a:solidFill>
                <a:effectLst/>
              </a:rPr>
              <a:t>Conduct interactive mock interviews where the agent asks questions and evaluates user responses in real time.</a:t>
            </a:r>
          </a:p>
          <a:p>
            <a:pPr algn="l"/>
            <a:r>
              <a:rPr lang="en-IN" b="1" i="0" dirty="0">
                <a:solidFill>
                  <a:srgbClr val="000000"/>
                </a:solidFill>
                <a:effectLst/>
              </a:rPr>
              <a:t>• Resume Analysis and Feedback</a:t>
            </a:r>
          </a:p>
          <a:p>
            <a:pPr algn="l"/>
            <a:r>
              <a:rPr lang="en-IN" b="0" i="0" dirty="0">
                <a:solidFill>
                  <a:srgbClr val="000000"/>
                </a:solidFill>
                <a:effectLst/>
              </a:rPr>
              <a:t>Analyze resumes and provide suggestions to improve content, formatting, and role-specific relevance.</a:t>
            </a:r>
          </a:p>
          <a:p>
            <a:pPr algn="l"/>
            <a:r>
              <a:rPr lang="en-IN" b="1" i="0" dirty="0">
                <a:solidFill>
                  <a:srgbClr val="000000"/>
                </a:solidFill>
                <a:effectLst/>
              </a:rPr>
              <a:t>• Personalized Improvement Recommendations</a:t>
            </a:r>
          </a:p>
          <a:p>
            <a:pPr algn="l"/>
            <a:r>
              <a:rPr lang="en-IN" b="0" i="0" dirty="0">
                <a:solidFill>
                  <a:srgbClr val="000000"/>
                </a:solidFill>
                <a:effectLst/>
              </a:rPr>
              <a:t>Identify weak areas based on interview performance and recommend focused preparation plans.</a:t>
            </a:r>
          </a:p>
          <a:p>
            <a:pPr algn="l"/>
            <a:r>
              <a:rPr lang="en-IN" b="1" i="0" dirty="0">
                <a:solidFill>
                  <a:srgbClr val="000000"/>
                </a:solidFill>
                <a:effectLst/>
              </a:rPr>
              <a:t>• Interview Performance Scoring</a:t>
            </a:r>
          </a:p>
          <a:p>
            <a:pPr algn="l"/>
            <a:r>
              <a:rPr lang="en-IN" b="0" i="0" dirty="0">
                <a:solidFill>
                  <a:srgbClr val="000000"/>
                </a:solidFill>
                <a:effectLst/>
              </a:rPr>
              <a:t>Generate confidence scores, communication scores, and technical readiness assessments after practice sessions.</a:t>
            </a:r>
          </a:p>
          <a:p>
            <a:pPr algn="l"/>
            <a:r>
              <a:rPr lang="en-IN" b="1" i="0" dirty="0">
                <a:solidFill>
                  <a:srgbClr val="000000"/>
                </a:solidFill>
                <a:effectLst/>
              </a:rPr>
              <a:t>• Voice-Based Interview Practice</a:t>
            </a:r>
          </a:p>
          <a:p>
            <a:pPr algn="l"/>
            <a:r>
              <a:rPr lang="en-IN" b="0" i="0" dirty="0">
                <a:solidFill>
                  <a:srgbClr val="000000"/>
                </a:solidFill>
                <a:effectLst/>
              </a:rPr>
              <a:t>Enable voice interaction for a realistic interview experience and communication skill improvement.</a:t>
            </a:r>
          </a:p>
          <a:p>
            <a:pPr algn="l"/>
            <a:r>
              <a:rPr lang="en-IN" b="1" i="0" dirty="0">
                <a:solidFill>
                  <a:srgbClr val="000000"/>
                </a:solidFill>
                <a:effectLst/>
              </a:rPr>
              <a:t>• Company-Specific Interview Preparation</a:t>
            </a:r>
          </a:p>
          <a:p>
            <a:pPr algn="l"/>
            <a:r>
              <a:rPr lang="en-IN" b="0" i="0" dirty="0">
                <a:solidFill>
                  <a:srgbClr val="000000"/>
                </a:solidFill>
                <a:effectLst/>
              </a:rPr>
              <a:t>Provide interview questions and preparation guidance tailored to specific companies and job profiles.</a:t>
            </a:r>
          </a:p>
          <a:p>
            <a:pPr algn="l"/>
            <a:r>
              <a:rPr lang="en-IN" b="1" i="0" dirty="0">
                <a:solidFill>
                  <a:srgbClr val="000000"/>
                </a:solidFill>
                <a:effectLst/>
              </a:rPr>
              <a:t>• Mobile and Web Application Integration</a:t>
            </a:r>
          </a:p>
          <a:p>
            <a:pPr algn="l"/>
            <a:r>
              <a:rPr lang="en-IN" b="0" i="0" dirty="0">
                <a:solidFill>
                  <a:srgbClr val="000000"/>
                </a:solidFill>
                <a:effectLst/>
              </a:rPr>
              <a:t>Deploy the Interview Trainer Agent as a mobile and web application for easy access anytime and anywhere.</a:t>
            </a:r>
          </a:p>
          <a:p>
            <a:pPr algn="l"/>
            <a:r>
              <a:rPr lang="en-IN" b="1" i="0" dirty="0">
                <a:solidFill>
                  <a:srgbClr val="000000"/>
                </a:solidFill>
                <a:effectLst/>
              </a:rPr>
              <a:t>• Advanced Analytics Dashboard</a:t>
            </a:r>
          </a:p>
          <a:p>
            <a:pPr algn="l"/>
            <a:r>
              <a:rPr lang="en-IN" b="0" i="0" dirty="0">
                <a:solidFill>
                  <a:srgbClr val="000000"/>
                </a:solidFill>
                <a:effectLst/>
              </a:rPr>
              <a:t>Track user progress, completed practice sessions, strengths, weaknesses, and improvement trends.</a:t>
            </a:r>
          </a:p>
          <a:p>
            <a:pPr algn="l"/>
            <a:r>
              <a:rPr lang="en-IN" b="0" i="0" dirty="0">
                <a:solidFill>
                  <a:srgbClr val="000000"/>
                </a:solidFill>
                <a:effectLst/>
              </a:rPr>
              <a:t>This Future Scope is directly related to your </a:t>
            </a:r>
            <a:r>
              <a:rPr lang="en-IN" b="1" i="0" dirty="0">
                <a:solidFill>
                  <a:srgbClr val="000000"/>
                </a:solidFill>
                <a:effectLst/>
              </a:rPr>
              <a:t>Interview Trainer Agent</a:t>
            </a:r>
            <a:r>
              <a:rPr lang="en-IN" b="0" i="0" dirty="0">
                <a:solidFill>
                  <a:srgbClr val="000000"/>
                </a:solidFill>
                <a:effectLst/>
              </a:rPr>
              <a:t> project rather than the learning-path project template.</a:t>
            </a:r>
          </a:p>
        </p:txBody>
      </p:sp>
    </p:spTree>
    <p:extLst>
      <p:ext uri="{BB962C8B-B14F-4D97-AF65-F5344CB8AC3E}">
        <p14:creationId xmlns:p14="http://schemas.microsoft.com/office/powerpoint/2010/main" val="21367067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1369</TotalTime>
  <Words>1592</Words>
  <Application>Microsoft Macintosh PowerPoint</Application>
  <PresentationFormat>Widescreen</PresentationFormat>
  <Paragraphs>198</Paragraphs>
  <Slides>16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Times New Roman</vt:lpstr>
      <vt:lpstr>Office Theme</vt:lpstr>
      <vt:lpstr>IBM University Engagement Project Submission </vt:lpstr>
      <vt:lpstr>PowerPoint Presentation</vt:lpstr>
      <vt:lpstr>PowerPoint Presentation</vt:lpstr>
      <vt:lpstr>Technology Used  </vt:lpstr>
      <vt:lpstr>PowerPoint Presentation</vt:lpstr>
      <vt:lpstr>PowerPoint Presentation</vt:lpstr>
      <vt:lpstr>PowerPoint Presentation</vt:lpstr>
      <vt:lpstr>PowerPoint Presentation</vt:lpstr>
      <vt:lpstr>Results and Outputs: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Smriti Karmakar</cp:lastModifiedBy>
  <cp:revision>27</cp:revision>
  <dcterms:created xsi:type="dcterms:W3CDTF">2025-07-08T05:06:56Z</dcterms:created>
  <dcterms:modified xsi:type="dcterms:W3CDTF">2026-06-05T04:47:21Z</dcterms:modified>
</cp:coreProperties>
</file>